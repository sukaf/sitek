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60" r:id="rId4"/>
    <p:sldId id="261" r:id="rId5"/>
    <p:sldId id="262" r:id="rId6"/>
    <p:sldId id="263" r:id="rId7"/>
    <p:sldId id="264" r:id="rId8"/>
    <p:sldId id="265"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9" d="100"/>
          <a:sy n="109" d="100"/>
        </p:scale>
        <p:origin x="167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ru-RU" smtClean="0"/>
              <a:t>Образец заголовка</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6883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5373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5BCAD085-E8A6-8845-BD4E-CB4CCA059FC4}"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37015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92140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87947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94636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71552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5BCAD085-E8A6-8845-BD4E-CB4CCA059FC4}"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99975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5BCAD085-E8A6-8845-BD4E-CB4CCA059FC4}"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29341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5BCAD085-E8A6-8845-BD4E-CB4CCA059FC4}"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80225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ru-RU" smtClean="0"/>
              <a:t>Образец заголовка</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5BCAD085-E8A6-8845-BD4E-CB4CCA059FC4}"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1603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ru-RU" smtClean="0"/>
              <a:t>Образец заголовка</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5BCAD085-E8A6-8845-BD4E-CB4CCA059FC4}"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68950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ru-RU" smtClean="0"/>
              <a:t>Образец заголовка</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5BCAD085-E8A6-8845-BD4E-CB4CCA059FC4}"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51755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ru-RU" smtClean="0"/>
              <a:t>Образец заголовка</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3" name="Date Placeholder 2"/>
          <p:cNvSpPr>
            <a:spLocks noGrp="1"/>
          </p:cNvSpPr>
          <p:nvPr>
            <p:ph type="dt" sz="half" idx="10"/>
          </p:nvPr>
        </p:nvSpPr>
        <p:spPr/>
        <p:txBody>
          <a:bodyPr/>
          <a:lstStyle/>
          <a:p>
            <a:fld id="{5BCAD085-E8A6-8845-BD4E-CB4CCA059FC4}" type="datetimeFigureOut">
              <a:rPr lang="en-US" smtClean="0"/>
              <a:t>4/7/2025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1058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ru-RU" smtClean="0"/>
              <a:t>Образец заголовка</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3" name="Date Placeholder 2"/>
          <p:cNvSpPr>
            <a:spLocks noGrp="1"/>
          </p:cNvSpPr>
          <p:nvPr>
            <p:ph type="dt" sz="half" idx="10"/>
          </p:nvPr>
        </p:nvSpPr>
        <p:spPr/>
        <p:txBody>
          <a:bodyPr/>
          <a:lstStyle/>
          <a:p>
            <a:fld id="{5BCAD085-E8A6-8845-BD4E-CB4CCA059FC4}" type="datetimeFigureOut">
              <a:rPr lang="en-US" smtClean="0"/>
              <a:t>4/7/2025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9604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061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03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BCAD085-E8A6-8845-BD4E-CB4CCA059FC4}" type="datetimeFigureOut">
              <a:rPr lang="en-US" smtClean="0"/>
              <a:t>4/7/2025</a:t>
            </a:fld>
            <a:endParaRPr lang="en-US"/>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800378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t>Scandinavian Flair in English-Language Travel Content</a:t>
            </a:r>
          </a:p>
        </p:txBody>
      </p:sp>
      <p:sp>
        <p:nvSpPr>
          <p:cNvPr id="3" name="Subtitle 2"/>
          <p:cNvSpPr>
            <a:spLocks noGrp="1"/>
          </p:cNvSpPr>
          <p:nvPr>
            <p:ph type="subTitle" idx="1"/>
          </p:nvPr>
        </p:nvSpPr>
        <p:spPr/>
        <p:txBody>
          <a:bodyPr/>
          <a:lstStyle/>
          <a:p>
            <a:r>
              <a:rPr dirty="0"/>
              <a:t>Examples Describing Sweden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9446" y="4508931"/>
            <a:ext cx="3024554" cy="2349070"/>
          </a:xfrm>
          <a:prstGeom prst="rect">
            <a:avLst/>
          </a:prstGeom>
        </p:spPr>
      </p:pic>
      <p:sp>
        <p:nvSpPr>
          <p:cNvPr id="2" name="Title 1"/>
          <p:cNvSpPr>
            <a:spLocks noGrp="1"/>
          </p:cNvSpPr>
          <p:nvPr>
            <p:ph type="title"/>
          </p:nvPr>
        </p:nvSpPr>
        <p:spPr/>
        <p:txBody>
          <a:bodyPr>
            <a:normAutofit fontScale="90000"/>
          </a:bodyPr>
          <a:lstStyle/>
          <a:p>
            <a:r>
              <a:t>Scandinavian Flair in Tourism Content</a:t>
            </a:r>
          </a:p>
        </p:txBody>
      </p:sp>
      <p:sp>
        <p:nvSpPr>
          <p:cNvPr id="3" name="Content Placeholder 2"/>
          <p:cNvSpPr>
            <a:spLocks noGrp="1"/>
          </p:cNvSpPr>
          <p:nvPr>
            <p:ph idx="1"/>
          </p:nvPr>
        </p:nvSpPr>
        <p:spPr/>
        <p:txBody>
          <a:bodyPr/>
          <a:lstStyle/>
          <a:p>
            <a:pPr marL="0" indent="0">
              <a:buNone/>
            </a:pPr>
            <a:r>
              <a:rPr lang="en-US" dirty="0"/>
              <a:t>Scandinavian flair plays a central role in how Sweden is portrayed in English-language tourist content. From serene landscapes and innovative design to cultural traditions and progressive values, Sweden is often idealized as a perfect blend of nature, modern living, and timeless folklore.</a:t>
            </a:r>
            <a:endParaRP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914400" y="2332037"/>
            <a:ext cx="8229600" cy="4525963"/>
          </a:xfrm>
        </p:spPr>
        <p:txBody>
          <a:bodyPr>
            <a:normAutofit/>
          </a:bodyPr>
          <a:lstStyle/>
          <a:p>
            <a:pPr marL="0" indent="0">
              <a:buNone/>
            </a:pPr>
            <a:r>
              <a:rPr lang="en-US" dirty="0"/>
              <a:t>One of the most common themes is </a:t>
            </a:r>
            <a:r>
              <a:rPr lang="en-US" b="1" dirty="0"/>
              <a:t>minimalism and design aesthetics</a:t>
            </a:r>
            <a:r>
              <a:rPr lang="en-US" dirty="0"/>
              <a:t>. Sweden is frequently highlighted as a country where simplicity meets sophistication. Travel blogs and guides often feature photos of sleek interiors, eco-friendly architecture, and stylish cafes in cities like Stockholm and Gothenburg. Swedish design, characterized by functionality and beauty, reinforces the country’s image as clean, organized, and forward-thinking.</a:t>
            </a:r>
            <a:endParaRPr lang="en-US"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894992" cy="2427513"/>
          </a:xfrm>
          <a:prstGeom prst="rect">
            <a:avLst/>
          </a:prstGeom>
        </p:spPr>
      </p:pic>
    </p:spTree>
    <p:extLst>
      <p:ext uri="{BB962C8B-B14F-4D97-AF65-F5344CB8AC3E}">
        <p14:creationId xmlns:p14="http://schemas.microsoft.com/office/powerpoint/2010/main" val="7836848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914400" y="0"/>
            <a:ext cx="8229600" cy="4525963"/>
          </a:xfrm>
        </p:spPr>
        <p:txBody>
          <a:bodyPr>
            <a:normAutofit/>
          </a:bodyPr>
          <a:lstStyle/>
          <a:p>
            <a:pPr marL="0" indent="0">
              <a:buNone/>
            </a:pPr>
            <a:r>
              <a:rPr lang="en-US" dirty="0"/>
              <a:t>Another key element is </a:t>
            </a:r>
            <a:r>
              <a:rPr lang="en-US" b="1" dirty="0"/>
              <a:t>nature</a:t>
            </a:r>
            <a:r>
              <a:rPr lang="en-US" dirty="0"/>
              <a:t>. Sweden is presented as a land of unspoiled wilderness, with thousands of lakes, dense forests, and the Arctic north offering views of the Northern Lights. Tourist content emphasizes </a:t>
            </a:r>
            <a:r>
              <a:rPr lang="en-US" b="1" dirty="0"/>
              <a:t>sustainability and eco-tourism</a:t>
            </a:r>
            <a:r>
              <a:rPr lang="en-US" dirty="0"/>
              <a:t>, inviting travelers to experience the country’s deep connection to the environment. The principle of </a:t>
            </a:r>
            <a:r>
              <a:rPr lang="en-US" b="1" dirty="0"/>
              <a:t>“</a:t>
            </a:r>
            <a:r>
              <a:rPr lang="en-US" b="1" dirty="0" err="1"/>
              <a:t>Allemansrätten</a:t>
            </a:r>
            <a:r>
              <a:rPr lang="en-US" b="1" dirty="0"/>
              <a:t>”</a:t>
            </a:r>
            <a:r>
              <a:rPr lang="en-US" dirty="0"/>
              <a:t>, or the Right of Public Access, is commonly mentioned — it allows anyone to roam freely through the countryside, camp in nature, and pick wild berries and mushrooms.</a:t>
            </a:r>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8422" y="4011710"/>
            <a:ext cx="5055577" cy="2846290"/>
          </a:xfrm>
          <a:prstGeom prst="rect">
            <a:avLst/>
          </a:prstGeom>
        </p:spPr>
      </p:pic>
    </p:spTree>
    <p:extLst>
      <p:ext uri="{BB962C8B-B14F-4D97-AF65-F5344CB8AC3E}">
        <p14:creationId xmlns:p14="http://schemas.microsoft.com/office/powerpoint/2010/main" val="10131213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914400" y="0"/>
            <a:ext cx="8229600" cy="4525963"/>
          </a:xfrm>
        </p:spPr>
        <p:txBody>
          <a:bodyPr/>
          <a:lstStyle/>
          <a:p>
            <a:pPr marL="0" indent="0">
              <a:buNone/>
            </a:pPr>
            <a:r>
              <a:rPr lang="en-US" dirty="0"/>
              <a:t>Swedish </a:t>
            </a:r>
            <a:r>
              <a:rPr lang="en-US" b="1" dirty="0"/>
              <a:t>cultural customs</a:t>
            </a:r>
            <a:r>
              <a:rPr lang="en-US" dirty="0"/>
              <a:t> are also prominently featured. One of the most endearing is </a:t>
            </a:r>
            <a:r>
              <a:rPr lang="en-US" b="1" dirty="0"/>
              <a:t>“</a:t>
            </a:r>
            <a:r>
              <a:rPr lang="en-US" b="1" dirty="0" err="1"/>
              <a:t>fika</a:t>
            </a:r>
            <a:r>
              <a:rPr lang="en-US" b="1" dirty="0"/>
              <a:t>”</a:t>
            </a:r>
            <a:r>
              <a:rPr lang="en-US" dirty="0"/>
              <a:t> — a daily ritual of enjoying coffee and pastries with friends or colleagues. </a:t>
            </a:r>
            <a:r>
              <a:rPr lang="en-US" dirty="0" err="1"/>
              <a:t>Fika</a:t>
            </a:r>
            <a:r>
              <a:rPr lang="en-US" dirty="0"/>
              <a:t> is more than just a coffee break; it's presented as a symbol of Swedish work-life balance and a slower, more meaningful lifestyle. For many tourists, experiencing </a:t>
            </a:r>
            <a:r>
              <a:rPr lang="en-US" dirty="0" err="1"/>
              <a:t>fika</a:t>
            </a:r>
            <a:r>
              <a:rPr lang="en-US" dirty="0"/>
              <a:t> is an essential part of immersing themselves in Swedish life.</a:t>
            </a:r>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7807" y="4525963"/>
            <a:ext cx="2992316" cy="2332037"/>
          </a:xfrm>
          <a:prstGeom prst="rect">
            <a:avLst/>
          </a:prstGeom>
        </p:spPr>
      </p:pic>
    </p:spTree>
    <p:extLst>
      <p:ext uri="{BB962C8B-B14F-4D97-AF65-F5344CB8AC3E}">
        <p14:creationId xmlns:p14="http://schemas.microsoft.com/office/powerpoint/2010/main" val="39312650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0" y="2332037"/>
            <a:ext cx="8229600" cy="4525963"/>
          </a:xfrm>
        </p:spPr>
        <p:txBody>
          <a:bodyPr>
            <a:normAutofit/>
          </a:bodyPr>
          <a:lstStyle/>
          <a:p>
            <a:pPr marL="0" indent="0">
              <a:buNone/>
            </a:pPr>
            <a:r>
              <a:rPr lang="en-US" b="1" dirty="0"/>
              <a:t>Seasonal traditions</a:t>
            </a:r>
            <a:r>
              <a:rPr lang="en-US" dirty="0"/>
              <a:t> are another source of fascination. </a:t>
            </a:r>
            <a:r>
              <a:rPr lang="en-US" b="1" dirty="0"/>
              <a:t>Midsummer</a:t>
            </a:r>
            <a:r>
              <a:rPr lang="en-US" dirty="0"/>
              <a:t>, for instance, is described with vivid imagery: flower crowns, maypole dancing, traditional songs, and long evenings under the midnight sun. In winter, </a:t>
            </a:r>
            <a:r>
              <a:rPr lang="en-US" b="1" dirty="0"/>
              <a:t>Christmas markets</a:t>
            </a:r>
            <a:r>
              <a:rPr lang="en-US" dirty="0"/>
              <a:t>, cozy cabins, and snowy landscapes evoke a Nordic fairytale atmosphere. These celebrations create a magical contrast between the seasons and contribute to the emotional pull of Sweden as a travel destination.</a:t>
            </a:r>
            <a:endParaRPr lang="ru-RU" dirty="0"/>
          </a:p>
        </p:txBody>
      </p:sp>
      <p:pic>
        <p:nvPicPr>
          <p:cNvPr id="8" name="Рисунок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1402" y="0"/>
            <a:ext cx="3542598" cy="2357438"/>
          </a:xfrm>
          <a:prstGeom prst="rect">
            <a:avLst/>
          </a:prstGeom>
        </p:spPr>
      </p:pic>
    </p:spTree>
    <p:extLst>
      <p:ext uri="{BB962C8B-B14F-4D97-AF65-F5344CB8AC3E}">
        <p14:creationId xmlns:p14="http://schemas.microsoft.com/office/powerpoint/2010/main" val="15351577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914400" y="26377"/>
            <a:ext cx="8229600" cy="4525963"/>
          </a:xfrm>
        </p:spPr>
        <p:txBody>
          <a:bodyPr/>
          <a:lstStyle/>
          <a:p>
            <a:pPr marL="0" indent="0">
              <a:buNone/>
            </a:pPr>
            <a:r>
              <a:rPr lang="en-US" dirty="0"/>
              <a:t>The </a:t>
            </a:r>
            <a:r>
              <a:rPr lang="en-US" b="1" dirty="0"/>
              <a:t>historical and mythical dimensions</a:t>
            </a:r>
            <a:r>
              <a:rPr lang="en-US" dirty="0"/>
              <a:t> are often woven into the narrative as well. Viking heritage, medieval castles, and rune stones are presented not only as historical facts but also as part of the romantic identity of the country. Many guides include tales of Norse mythology, making the past feel alive and accessible.</a:t>
            </a:r>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505179"/>
            <a:ext cx="3921369" cy="2352821"/>
          </a:xfrm>
          <a:prstGeom prst="rect">
            <a:avLst/>
          </a:prstGeom>
        </p:spPr>
      </p:pic>
    </p:spTree>
    <p:extLst>
      <p:ext uri="{BB962C8B-B14F-4D97-AF65-F5344CB8AC3E}">
        <p14:creationId xmlns:p14="http://schemas.microsoft.com/office/powerpoint/2010/main" val="23830830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pPr marL="0" indent="0">
              <a:buNone/>
            </a:pPr>
            <a:r>
              <a:rPr lang="en-US" dirty="0"/>
              <a:t>Overall, the tone of this content tends to be </a:t>
            </a:r>
            <a:r>
              <a:rPr lang="en-US" b="1" dirty="0"/>
              <a:t>calm, poetic, and slightly idealized</a:t>
            </a:r>
            <a:r>
              <a:rPr lang="en-US" dirty="0"/>
              <a:t>. Sweden is painted as a land of harmony — between people and nature, tradition and progress, simplicity and richness of experience. This romanticized image appeals especially to travelers seeking authenticity, wellness, and a slower pace of life.</a:t>
            </a:r>
            <a:endParaRPr lang="ru-RU" dirty="0"/>
          </a:p>
        </p:txBody>
      </p:sp>
    </p:spTree>
    <p:extLst>
      <p:ext uri="{BB962C8B-B14F-4D97-AF65-F5344CB8AC3E}">
        <p14:creationId xmlns:p14="http://schemas.microsoft.com/office/powerpoint/2010/main" val="398250367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Сланец">
  <a:themeElements>
    <a:clrScheme name="Красный">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Сланец">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ланец">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Сланец</Template>
  <TotalTime>161</TotalTime>
  <Words>491</Words>
  <Application>Microsoft Office PowerPoint</Application>
  <PresentationFormat>Экран (4:3)</PresentationFormat>
  <Paragraphs>10</Paragraphs>
  <Slides>8</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8</vt:i4>
      </vt:variant>
    </vt:vector>
  </HeadingPairs>
  <TitlesOfParts>
    <vt:vector size="12" baseType="lpstr">
      <vt:lpstr>Calisto MT</vt:lpstr>
      <vt:lpstr>Trebuchet MS</vt:lpstr>
      <vt:lpstr>Wingdings 2</vt:lpstr>
      <vt:lpstr>Сланец</vt:lpstr>
      <vt:lpstr>Scandinavian Flair in English-Language Travel Content</vt:lpstr>
      <vt:lpstr>Scandinavian Flair in Tourism Content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Scandinavian Flair in English-Language Travel Content</dc:title>
  <dc:subject/>
  <dc:creator>вовочка</dc:creator>
  <cp:keywords/>
  <dc:description>generated using python-pptx</dc:description>
  <cp:lastModifiedBy>вовочка</cp:lastModifiedBy>
  <cp:revision>6</cp:revision>
  <dcterms:created xsi:type="dcterms:W3CDTF">2013-01-27T09:14:16Z</dcterms:created>
  <dcterms:modified xsi:type="dcterms:W3CDTF">2025-04-07T11:04:02Z</dcterms:modified>
  <cp:category/>
</cp:coreProperties>
</file>